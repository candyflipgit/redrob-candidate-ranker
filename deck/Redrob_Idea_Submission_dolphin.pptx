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623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lab.research.google.com/drive/1kq2aGSJ1bQoil_xqw4dYZMMshfuWb558?usp=sharing" TargetMode="External"/><Relationship Id="rId4" Type="http://schemas.openxmlformats.org/officeDocument/2006/relationships/hyperlink" Target="https://github.com/candyflipgit/redrob-candidate-ranke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THE DATA &amp; AI CHALLENGE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33467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Candidate Discovery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3977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endParaRPr lang="en-US" sz="10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dolphin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901952" y="3998214"/>
            <a:ext cx="130471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
</a:t>
            </a:r>
            <a:endParaRPr lang="en-US" sz="10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Viraj Phad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32120" y="3931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r>
              <a:rPr lang="en-US" sz="11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100 best-fit candidates from a 100,000-profile pool against a nuanced JD — seeing past keywords to true fit.</a:t>
            </a:r>
            <a:endParaRPr lang="en-US" sz="1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26AD432-FE75-0603-555D-5748C05D28E2}"/>
              </a:ext>
            </a:extLst>
          </p:cNvPr>
          <p:cNvSpPr/>
          <p:nvPr/>
        </p:nvSpPr>
        <p:spPr>
          <a:xfrm>
            <a:off x="3346954" y="3975280"/>
            <a:ext cx="2044874" cy="544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endParaRPr lang="en-US" sz="1700" dirty="0"/>
          </a:p>
          <a:p>
            <a:r>
              <a:rPr lang="en-US" sz="1700" b="1" dirty="0"/>
              <a:t>Anushka Kulkarni</a:t>
            </a:r>
            <a:endParaRPr lang="en-IN" sz="1700" dirty="0"/>
          </a:p>
          <a:p>
            <a:r>
              <a:rPr lang="en-US" sz="1700" b="1" dirty="0"/>
              <a:t>Chirag Pednekar</a:t>
            </a:r>
            <a:endParaRPr lang="en-IN" sz="1700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recruiter that reads the whole story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8001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rank candidates by INTERNAL COHERENCE + JD-alignment across every field and whether the person is actually available — not by counting keywords. The same system re-derives its target for any JD and any pool.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7512" y="2148840"/>
            <a:ext cx="391363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832104" y="2331720"/>
            <a:ext cx="146304" cy="1463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51560" y="2258568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over keywords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0392" y="2606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adversarial — keyword/embedding matching ranks scrambled 'stuffers' #1. We demote them by checking the fields agree.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64024" y="2148840"/>
            <a:ext cx="391363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28616" y="233172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148072" y="2258568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≠ keywords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46904" y="2606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 layer separates an IR career from IR buzzwords — demoting CV/services/'lightweight' generalists who only list the skills.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7512" y="3630168"/>
            <a:ext cx="391363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832104" y="3813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051560" y="3739896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availability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50392" y="40873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perfect-on-paper ghosts who haven't logged in for months or ignore recruiters — they aren't actually hireable.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64024" y="3630168"/>
            <a:ext cx="391363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928616" y="3813048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148072" y="3739896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CPU-only, general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946904" y="40873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~35s over 100K on CPU, no per-candidate LLM calls. Nothing hardcoded to this JD — it productizes to any role.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UNDERSTANDING &amp; CANDIDATE EVALUATION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rambling JD to a precise target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67512" y="1417320"/>
            <a:ext cx="261518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32104" y="1600200"/>
            <a:ext cx="146304" cy="1463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51560" y="1527048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(auto-parsed)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0392" y="1874520"/>
            <a:ext cx="2267712" cy="1764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faceted JobSpec extracted from the JD text: production retrieval / ranking / embeddings / vector-DBs, 5–9 yrs, product (not services) companies, Pune/Noida + relocate, rigorous eval (NDCG/MRR).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417320"/>
            <a:ext cx="261518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93592" y="160020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813048" y="1527048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 it catches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611880" y="1874520"/>
            <a:ext cx="2267712" cy="1764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Services-only careers, pure-research, LangChain-only/&lt;12mo 'AI', computer-vision / speech without NLP-IR, and title-chasers — all called out in the JD, all parsed into the spec.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1417320"/>
            <a:ext cx="261518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355080" y="160020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74536" y="1527048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that matter most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73368" y="1874520"/>
            <a:ext cx="2267712" cy="1764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coherence; career-IR-focus (do the role descriptions describe ranking work?); corroborated skills (endorsements × duration × assessments); behavioral availability.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" y="3950208"/>
            <a:ext cx="800100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keywords:  </a:t>
            </a:r>
            <a:r>
              <a:rPr lang="en-US" sz="12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signal is internal coherence + JD-alignment across ALL fields at once. Real fits tell one consistent story; traps are stitched from mismatched parts.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METHODOLOGY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 → score → rank, explainably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67512" y="1371600"/>
            <a:ext cx="8001000" cy="713232"/>
          </a:xfrm>
          <a:prstGeom prst="roundRect">
            <a:avLst>
              <a:gd name="adj" fmla="val 7692"/>
            </a:avLst>
          </a:prstGeom>
          <a:solidFill>
            <a:srgbClr val="1111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9C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</a:t>
            </a: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alignment</a:t>
            </a:r>
            <a:r>
              <a:rPr lang="en-US" sz="1350" dirty="0">
                <a:solidFill>
                  <a:srgbClr val="C9C9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(lexical + semantic)  ×  </a:t>
            </a: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coherence</a:t>
            </a:r>
            <a:r>
              <a:rPr lang="en-US" sz="1350" dirty="0">
                <a:solidFill>
                  <a:srgbClr val="C9C9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 </a:t>
            </a: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</a:t>
            </a:r>
            <a:r>
              <a:rPr lang="en-US" sz="1350" dirty="0">
                <a:solidFill>
                  <a:srgbClr val="C9C9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(career≠keywords)  ×  </a:t>
            </a: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availability</a:t>
            </a:r>
            <a:r>
              <a:rPr lang="en-US" sz="1350" dirty="0">
                <a:solidFill>
                  <a:srgbClr val="C9C9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</a:t>
            </a:r>
            <a:r>
              <a:rPr lang="en-US" sz="1350" b="1" dirty="0">
                <a:solidFill>
                  <a:srgbClr val="FF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honeypot sink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7512" y="2331720"/>
            <a:ext cx="391363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32104" y="2514600"/>
            <a:ext cx="146304" cy="1463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51560" y="2441448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algorithms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50392" y="278892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 embeddings (computed offline), numpy cosine + percentile, and deterministic feature scoring. No hosted-LLM call per candidate — it must scale to millions.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64024" y="2331720"/>
            <a:ext cx="391363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928616" y="251460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148072" y="2441448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the signals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46904" y="278892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core (alignment + coherence) × multiplicative dealbreakers (availability, trust), minus a near-zero honeypot sink — tier-like by design and robust (top-10 invariant to ±20% weight change).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DATA VALIDATION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reasons, no hallucinations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67512" y="1417320"/>
            <a:ext cx="2615184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32104" y="1600200"/>
            <a:ext cx="146304" cy="14630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51560" y="1527048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Feature-grounded reasons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0392" y="1874520"/>
            <a:ext cx="2267712" cy="1673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candidate's reasoning is generated from the real features that drove its score — title, years, a named employer, signal values — with honest concerns, and tone that scales with rank.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417320"/>
            <a:ext cx="2615184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93592" y="160020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813048" y="1527048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611880" y="1874520"/>
            <a:ext cx="2267712" cy="1673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self-consistent fields are cited (an employer is named only when the profile is coherent). Verified: every cited employer actually exists in that candidate's history.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1417320"/>
            <a:ext cx="2615184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355080" y="1600200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74536" y="1527048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profiles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73368" y="1874520"/>
            <a:ext cx="2267712" cy="1673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(impossible dates / tenure / 'expert' + 0 months) hit a logic sink → 0% in the top-100. Scrambled stuffers and CV/services generalists are demoted by coherence + trust.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" y="3886200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honeypots</a:t>
            </a: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top-100 (disqualification threshold is 10%)  ·  cited employers verified against the raw profile.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JD input to ranked output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6F4FC"/>
          </a:solidFill>
          <a:ln w="12700">
            <a:solidFill>
              <a:srgbClr val="D9C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987552" y="1929384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875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JobSpec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764792" y="1783080"/>
            <a:ext cx="1554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901952" y="17830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6F4FC"/>
          </a:solidFill>
          <a:ln w="12700">
            <a:solidFill>
              <a:srgbClr val="D9C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386584" y="1929384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386584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947672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947672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narratives (offline)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163824" y="1783080"/>
            <a:ext cx="1554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300984" y="17830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785616" y="1929384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785616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346704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346704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+ JD-aligned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62856" y="1783080"/>
            <a:ext cx="1554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700016" y="17830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5184648" y="1929384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184648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745736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45736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score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61888" y="1783080"/>
            <a:ext cx="1554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099048" y="17830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583680" y="1929384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583680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144768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144768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sink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360920" y="1783080"/>
            <a:ext cx="1554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7498080" y="17830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7982712" y="1929384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798271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54380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543800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reasons → CSV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6F4FC"/>
          </a:solidFill>
          <a:ln w="12700">
            <a:solidFill>
              <a:srgbClr val="D9C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85800" y="34747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 harness  </a:t>
            </a:r>
            <a:r>
              <a:rPr lang="en-US" sz="12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every change on NDCG@10/@50, MAP, P@10 against 68 hand-read labels — our substitute for the missing leaderboard (3 submissions, no live feedback).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phases: precompute offline, rank fast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6F4FC"/>
          </a:solidFill>
          <a:ln w="12700">
            <a:solidFill>
              <a:srgbClr val="D9C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14813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 ·  UNTIMED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2514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49808" y="17830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→ JobSpec (faceted)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783080"/>
            <a:ext cx="2514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447288" y="17830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narratives → MiniLM embeddings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783080"/>
            <a:ext cx="2514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144768" y="17830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vectors → artifacts/*.npy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83464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1111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29077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STEP  ·  CPU  ·  numpy only  ·  &lt; 5 min  ·  no network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20040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1E1E3A"/>
          </a:solidFill>
          <a:ln w="12700">
            <a:solidFill>
              <a:srgbClr val="3A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49808" y="32004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vectors + features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37560" y="320040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1E1E3A"/>
          </a:solidFill>
          <a:ln w="12700">
            <a:solidFill>
              <a:srgbClr val="3A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447288" y="32004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align × coherence × trust × avail − honeypot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5040" y="320040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1E1E3A"/>
          </a:solidFill>
          <a:ln w="12700">
            <a:solidFill>
              <a:srgbClr val="3A3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144768" y="32004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+ reasons → submission.csv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re-rank → filter → explain → evaluate  —  standard production IR shape; torch never imported at rank 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Strong, honest, and within budget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67512" y="1463040"/>
            <a:ext cx="18928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67512" y="1463040"/>
            <a:ext cx="1892808" cy="8229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58952" y="1682496"/>
            <a:ext cx="170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58952" y="2304288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" y="2542032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hand-verified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24912" y="1463040"/>
            <a:ext cx="18928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724912" y="1463040"/>
            <a:ext cx="1892808" cy="822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816352" y="1682496"/>
            <a:ext cx="170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~0.996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816352" y="2304288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(offline)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816352" y="2542032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gold-anchored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82312" y="1463040"/>
            <a:ext cx="18928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782312" y="1463040"/>
            <a:ext cx="1892808" cy="8229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73752" y="1682496"/>
            <a:ext cx="170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873752" y="2304288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top-100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73752" y="2542032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line is 10%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39712" y="1463040"/>
            <a:ext cx="18928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839712" y="1463040"/>
            <a:ext cx="1892808" cy="822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931152" y="1682496"/>
            <a:ext cx="170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~35s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6931152" y="2304288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100K, CPU-only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31152" y="2542032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5 min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67512" y="3063240"/>
            <a:ext cx="8001000" cy="1207008"/>
          </a:xfrm>
          <a:prstGeom prst="roundRect">
            <a:avLst>
              <a:gd name="adj" fmla="val 4545"/>
            </a:avLst>
          </a:prstGeom>
          <a:solidFill>
            <a:srgbClr val="F6F4FC"/>
          </a:solidFill>
          <a:ln w="12700">
            <a:solidFill>
              <a:srgbClr val="D9CE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68680" y="3154680"/>
            <a:ext cx="7589520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met:  </a:t>
            </a:r>
            <a:r>
              <a:rPr lang="en-US" sz="11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no network at rank time, numpy-only rank step, ~400 MB peak — well under the 5 min / 16 GB / no-GPU limits, and reproducible in a sandboxed container.
</a:t>
            </a: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 </a:t>
            </a:r>
            <a:r>
              <a:rPr lang="en-US" sz="1150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is anchored on 68 hand-read relevance labels (top-35 well covered); deeper ranks carry some weaker-label noise — our best offline estimate, not a guarantee.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Chosen for the 5-minute, CPU-only bar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67512" y="1417320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67512" y="1417320"/>
            <a:ext cx="64008" cy="86868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50392" y="150876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numpy / scipy / pandas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392" y="1783080"/>
            <a:ext cx="3593592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ranking step — deliberately minimal so it reproduces in the Stage-3 sandbox.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64024" y="1417320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64024" y="141732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946904" y="150876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+ PyTorch (CPU)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46904" y="1783080"/>
            <a:ext cx="3593592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 embeddings, computed offline. Chosen over bge-small for speed (78/s vs 11/s).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" y="2414016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67512" y="2414016"/>
            <a:ext cx="64008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50392" y="2505456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SciPy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0392" y="2779776"/>
            <a:ext cx="3593592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normalization, silver labels, and NDCG/MAP metrics in the eval harness.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64024" y="2414016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764024" y="2414016"/>
            <a:ext cx="64008" cy="8686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946904" y="2505456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46904" y="2779776"/>
            <a:ext cx="3593592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JobSpec artifact — 'parse the JD once', then consumed by the ranker.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67512" y="3410712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67512" y="3410712"/>
            <a:ext cx="64008" cy="868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850392" y="3502152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50392" y="3776472"/>
            <a:ext cx="3593592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sandbox demo that runs the pipeline on a sample, end-to-end on CPU.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64024" y="3410712"/>
            <a:ext cx="391363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764024" y="3410712"/>
            <a:ext cx="64008" cy="86868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946904" y="3502152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46904" y="3776472"/>
            <a:ext cx="3593592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iterative history — every design choice backed by a measured experiment.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76656"/>
            <a:ext cx="73152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67512" y="6400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ASSETS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22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Everything, reproducible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67512" y="1463040"/>
            <a:ext cx="8001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68680" y="1746504"/>
            <a:ext cx="182880" cy="1828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216152" y="14630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50792" y="1463040"/>
            <a:ext cx="44348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 — top-100, ranked, each with a 1-line reason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7512" y="2359152"/>
            <a:ext cx="8001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68680" y="2642616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216152" y="2359152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50792" y="2359152"/>
            <a:ext cx="44348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github.com/candyflipgit/redrob-candidate-ranker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7512" y="3255264"/>
            <a:ext cx="8001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2"/>
          <p:cNvSpPr/>
          <p:nvPr/>
        </p:nvSpPr>
        <p:spPr>
          <a:xfrm>
            <a:off x="868680" y="353872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216152" y="325526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sandbox (Colab)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050792" y="3255264"/>
            <a:ext cx="44348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pipeline on a sample, end-to-end on CPU, </a:t>
            </a: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here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67512" y="4151376"/>
            <a:ext cx="8001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7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868680" y="443484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216152" y="4151376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050792" y="4151376"/>
            <a:ext cx="44348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methodology + &lt;200-word summary + 16-commit history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hank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1069</Words>
  <Application>Microsoft Office PowerPoint</Application>
  <PresentationFormat>On-screen Show (16:9)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— Intelligent Candidate Discovery</dc:title>
  <dc:subject>PptxGenJS Presentation</dc:subject>
  <dc:creator>dolphin</dc:creator>
  <cp:lastModifiedBy>Viraj Phad</cp:lastModifiedBy>
  <cp:revision>4</cp:revision>
  <dcterms:created xsi:type="dcterms:W3CDTF">2026-06-21T10:37:14Z</dcterms:created>
  <dcterms:modified xsi:type="dcterms:W3CDTF">2026-06-21T11:10:08Z</dcterms:modified>
</cp:coreProperties>
</file>